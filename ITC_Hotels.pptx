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90" r:id="rId4"/>
    <p:sldId id="276" r:id="rId5"/>
    <p:sldId id="283" r:id="rId6"/>
    <p:sldId id="289" r:id="rId7"/>
    <p:sldId id="273" r:id="rId8"/>
    <p:sldId id="286" r:id="rId9"/>
    <p:sldId id="277" r:id="rId10"/>
    <p:sldId id="257" r:id="rId11"/>
    <p:sldId id="258" r:id="rId12"/>
    <p:sldId id="262" r:id="rId13"/>
    <p:sldId id="278" r:id="rId14"/>
    <p:sldId id="260" r:id="rId15"/>
    <p:sldId id="263" r:id="rId16"/>
    <p:sldId id="264" r:id="rId17"/>
    <p:sldId id="279" r:id="rId18"/>
    <p:sldId id="268" r:id="rId19"/>
    <p:sldId id="271" r:id="rId20"/>
    <p:sldId id="284" r:id="rId21"/>
    <p:sldId id="280" r:id="rId22"/>
    <p:sldId id="285" r:id="rId23"/>
    <p:sldId id="292" r:id="rId24"/>
    <p:sldId id="282" r:id="rId25"/>
    <p:sldId id="281" r:id="rId26"/>
    <p:sldId id="291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93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E9E1-9C80-BFD5-192B-6FB1CA14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25202-4A40-5029-2882-6D101BEF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53A88-2106-22A6-B6D2-DF8C7AC7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CD0F-2B38-DD74-7F3F-70E895AB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B013F-21B4-942B-0A7A-F337BA64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0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1E03-298F-5B97-F352-B33271FF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7395-C6D3-AFB3-719E-3B8107DE7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D448-FCE8-7B67-882D-D19E4E4E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F2DB-E643-0CD6-A441-24247029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7A766-EDBE-823A-AAD7-D6B5A69F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39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ECA2-5A25-96E5-5450-011A8656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D4F09-BC5D-1AFE-8258-1D6BED76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3B042-D3F2-9CBB-3EA7-7FCA36BB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884A4-79C5-3CD3-466F-0946F91B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CA990-6591-E4E8-481F-83EC6ADF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4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20C9-CDDF-242B-A000-B822E5FC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1DF5-DE1C-C342-F724-2000976DC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3F5C3-D686-E27F-888D-ED5964F88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96CB8-1CA5-A020-1BB0-582E9A8F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B9F9A-E557-C0D3-6C6B-20FE6256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D14EC-4263-8E91-7F78-B041FAD0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91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6CFA-5DAB-FBBA-AB57-CAA2EEB1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5D498-90E0-744E-BD03-66E2551A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D4FB4-3EA5-3450-C40D-B7DF59344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AC5F2-B7B3-488D-D2DE-0BBF9F90D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78E9F-4304-58DE-A3E8-1102F7045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56B76-2821-FE47-92FD-8E22661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E1976-15EC-8846-BDC0-E60AA16D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AC2E6-6F84-FF4B-A11E-0CA3AFE3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2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8AC7-922E-CB34-776E-5C87B738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8A20E-0790-5C71-4CB3-45BE5BEB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54B5C-08BB-761D-FCAB-F49B8DDB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01F6E-4E2F-25CA-0593-0B5615DB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36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63FF4-D93F-8951-31E5-6D6003CA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D7B60-9DB6-EB23-D258-C089EC24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5B906-90E7-F8F7-781F-DFCC1955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0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6483-CCB0-E83C-B196-62FF03B1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EC89B-A67B-1BAF-19B2-F82AD5A99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0A6D1-C3C3-4BBF-C0DE-254D22E62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FBBE2-7BCF-E5B9-8074-9652A643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1EE9D-C29C-4BD6-5082-B2C30475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99F8E-AC6A-7A4B-4328-63030065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19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762B-EC72-AC3C-F1E7-51506F2F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90650-94A5-B66D-9722-A44982E82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0B6EA-E5CB-30BC-8E14-95F1FF5F7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E64F2-ECBA-AFA6-A2C8-A17CAE9D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C1007-0FBC-B9C5-3F44-4F43BC76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F7C69-5F7F-E37B-5653-8FFEA8ED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22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4CB1-AB3A-977C-C698-F0118FBB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F96A7-CD55-0BCC-1165-396A0AF63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0644-9C95-8718-DBEF-40BB7342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34C8E-5A0D-70C9-5207-668C9A8D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42EF-954E-875E-D61D-FD9E949B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75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9C7B2-F10D-4241-FE59-6C3196192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C800A-B2D6-663C-222C-E8F9F3FD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4E4D9-7B1C-35F8-56DD-7FC78DDD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E3AD-CB60-64EE-0F48-B744FE73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4A10A-1AD8-2730-7D0F-E70FC8AF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1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1C620-7157-211F-F691-C02B0996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658A0-329D-3F41-1A3D-16BE6383E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307F-5121-573A-C8D0-50D1AA04C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DB268-F321-4740-87AC-7AEC69CA519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7765B-E22F-7108-27CA-52DA275A7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15307-C9CA-72B6-F27D-DA174CFBE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8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50F13-B14E-9FF0-6EE0-A5F974B2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3285CE1-E448-2B83-E2BD-24C2B20F9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7341F-AD91-E1E0-5816-87C0BA8DA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B2E80B-45DE-B5BA-311E-34B61DA74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70E9AB-BDE1-C0C7-1AC6-A5C513EFF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44CEEE-6BE1-5931-CBAE-0778169E2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large building with many windows&#10;&#10;AI-generated content may be incorrect.">
            <a:extLst>
              <a:ext uri="{FF2B5EF4-FFF2-40B4-BE49-F238E27FC236}">
                <a16:creationId xmlns:a16="http://schemas.microsoft.com/office/drawing/2014/main" id="{837CD3F1-7869-CBC1-7ACD-CCAC5C615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863" y="-100207"/>
            <a:ext cx="12375722" cy="707720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8E18D0-DA24-2131-0258-F8510F5F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7200" kern="1200" dirty="0">
                <a:solidFill>
                  <a:srgbClr val="FFFFFF"/>
                </a:solidFill>
              </a:rPr>
              <a:t>Project: ITC Hotels</a:t>
            </a:r>
            <a:endParaRPr lang="en-US" sz="7000" kern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99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E4AEB-1C87-FB52-0767-0FFF78C6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FD3470A-BBCF-5F8D-8AB1-06D00BDAD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87E70E-B378-0ED1-064E-5CB982C4A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CB1381-BABD-E578-5222-9EC38E2C8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4E71BA-DE58-D5EE-8DA2-3CDDA43C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1F6612-5C72-640B-199A-24C6E790B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A1C91-D719-887D-A4E8-4E195CDC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ctr"/>
            <a:br>
              <a:rPr lang="en-IN" sz="6000" dirty="0">
                <a:solidFill>
                  <a:srgbClr val="FFFFFF"/>
                </a:solidFill>
              </a:rPr>
            </a:br>
            <a:r>
              <a:rPr lang="en-IN" sz="6000" dirty="0">
                <a:solidFill>
                  <a:srgbClr val="FFFFFF"/>
                </a:solidFill>
              </a:rPr>
              <a:t>Introduction</a:t>
            </a:r>
            <a:br>
              <a:rPr lang="en-IN" sz="3200" dirty="0">
                <a:solidFill>
                  <a:schemeClr val="bg1"/>
                </a:solidFill>
              </a:rPr>
            </a:b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5834E-D8C9-14BB-6EA8-7D738B009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590741"/>
            <a:ext cx="7619996" cy="52672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ITC Hotels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an Indian hospitality company that</a:t>
            </a: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operates and manages hotels. It has over 100 hotels</a:t>
            </a: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is India's </a:t>
            </a: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third largest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hotel chain. It has a</a:t>
            </a: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franchise agreement to operate most of its hotels as</a:t>
            </a: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part of The Luxury Collection of Marriott International.</a:t>
            </a: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is a subsidiary of ITC Limited.</a:t>
            </a:r>
          </a:p>
          <a:p>
            <a:pPr marL="0" indent="0">
              <a:buNone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ITC Hotels has </a:t>
            </a: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four brands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each with a different class of hotel:</a:t>
            </a:r>
          </a:p>
          <a:p>
            <a:pPr marL="0" indent="0">
              <a:buNone/>
            </a:pP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ITC Hotels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Luxury hotels</a:t>
            </a:r>
          </a:p>
          <a:p>
            <a:pPr marL="0" indent="0">
              <a:buNone/>
            </a:pP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Welcome Hotel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Five-star hotels</a:t>
            </a:r>
          </a:p>
          <a:p>
            <a:pPr marL="0" indent="0">
              <a:buNone/>
            </a:pP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Fortune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Mid-market to upscale hotels</a:t>
            </a:r>
          </a:p>
          <a:p>
            <a:pPr marL="0" indent="0">
              <a:buNone/>
            </a:pP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Welcome Heritage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Heritage leisure hotel</a:t>
            </a:r>
          </a:p>
          <a:p>
            <a:pPr marL="0" indent="0">
              <a:lnSpc>
                <a:spcPct val="110000"/>
              </a:lnSpc>
              <a:buNone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1" indent="0">
              <a:buNone/>
            </a:pPr>
            <a:endParaRPr lang="en-US" sz="21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 descr="A large building with a circular fountain in front of it&#10;&#10;AI-generated content may be incorrect.">
            <a:extLst>
              <a:ext uri="{FF2B5EF4-FFF2-40B4-BE49-F238E27FC236}">
                <a16:creationId xmlns:a16="http://schemas.microsoft.com/office/drawing/2014/main" id="{0CDBE94D-3145-9DC2-6307-8595530E0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" y="1587396"/>
            <a:ext cx="4572007" cy="527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0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0372E-FEEE-125C-CFA3-DC2B310A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0113DD-0F5A-2367-C683-910EF568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AB4795-3C0A-CEEE-6AD2-BB110EDE8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0C5E93-04B0-9FCE-038B-4ED6C9302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2619FD-1987-F427-D6CC-CBE33BBED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C8B3EB-8927-5BD1-0873-D92193AB3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CEB2B-99B9-71C2-7AC3-9466EF4C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ctr"/>
            <a:br>
              <a:rPr lang="en-IN" sz="6000" dirty="0">
                <a:solidFill>
                  <a:srgbClr val="FFFFFF"/>
                </a:solidFill>
              </a:rPr>
            </a:br>
            <a:r>
              <a:rPr lang="en-IN" sz="6000" dirty="0">
                <a:solidFill>
                  <a:srgbClr val="FFFFFF"/>
                </a:solidFill>
              </a:rPr>
              <a:t>Business Challenge</a:t>
            </a:r>
            <a:br>
              <a:rPr lang="en-IN" sz="3200" dirty="0">
                <a:solidFill>
                  <a:schemeClr val="bg1"/>
                </a:solidFill>
              </a:rPr>
            </a:b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6860D-A143-B3D4-2E74-740604FA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590741"/>
            <a:ext cx="7619996" cy="526725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ITC Hotels is a luxury hotel chain that operates multiple properties with diverse room categories and varying occupancy rates. The company wants to gain deeper insights into its overall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performance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customer booking behavior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occupancy trends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room category performance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 revenue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generation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minimize cancellations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enhance </a:t>
            </a:r>
            <a:r>
              <a:rPr lang="en-US" sz="2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customer satisfaction</a:t>
            </a:r>
            <a:r>
              <a:rPr lang="en-US" sz="2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The goal of this project is to create an interactive, multi-page Power BI dashboard to provide stakeholders with real-time insights for decision-making.</a:t>
            </a:r>
            <a:endParaRPr lang="en-IN" sz="27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1" indent="0">
              <a:buNone/>
            </a:pPr>
            <a:endParaRPr lang="en-US" sz="27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 descr="A building with a roof and a walkway&#10;&#10;AI-generated content may be incorrect.">
            <a:extLst>
              <a:ext uri="{FF2B5EF4-FFF2-40B4-BE49-F238E27FC236}">
                <a16:creationId xmlns:a16="http://schemas.microsoft.com/office/drawing/2014/main" id="{30AE663D-0EE5-5348-C629-A9222FF30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740"/>
            <a:ext cx="4572000" cy="526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3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CF5C3-AF00-DABF-6331-9A77311B8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855300"/>
            <a:ext cx="11498891" cy="60027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4A7CF4-2581-B5FA-C586-CF7C6E98555A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241616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0E6AB3-270A-E262-6622-B4204A225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722334"/>
            <a:ext cx="11498892" cy="613566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E2D356-ECD3-AFE0-4481-E9F5719348EC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Financial Overview &amp; Revenue Analysis</a:t>
            </a:r>
          </a:p>
        </p:txBody>
      </p:sp>
    </p:spTree>
    <p:extLst>
      <p:ext uri="{BB962C8B-B14F-4D97-AF65-F5344CB8AC3E}">
        <p14:creationId xmlns:p14="http://schemas.microsoft.com/office/powerpoint/2010/main" val="230056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06AFD-CFE2-C1CD-D7B0-BA37C737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EAE8906-08AE-F9A5-A9CC-623019D55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6D2D6C-7FC9-208E-005E-7416320CE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5DD0EE-67B9-AE4A-6E54-5BC36DD5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710A94-E173-236F-7EEA-2E2D00961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D45A67-E5FC-1A32-0496-A822B9050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17864-3041-C244-260A-9584396B6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1. Financial Overview &amp; Revenue Performance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EDB79-A043-C8BE-2B85-B7088B97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740"/>
            <a:ext cx="10515600" cy="51607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Key Financial Metrics:</a:t>
            </a:r>
          </a:p>
          <a:p>
            <a:pPr lvl="1">
              <a:lnSpc>
                <a:spcPct val="11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Generated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 ₹2.01B</a:t>
            </a:r>
          </a:p>
          <a:p>
            <a:pPr lvl="1">
              <a:lnSpc>
                <a:spcPct val="11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ADR (Average Daily Rate)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 ₹14.92K</a:t>
            </a:r>
          </a:p>
          <a:p>
            <a:pPr lvl="1">
              <a:lnSpc>
                <a:spcPct val="11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RevPAR (Revenue per Available Room)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₹8.63K</a:t>
            </a:r>
          </a:p>
          <a:p>
            <a:pPr lvl="1">
              <a:lnSpc>
                <a:spcPct val="11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Performance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>
              <a:lnSpc>
                <a:spcPct val="11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 Growth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50.29%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(strong month-over-month improvement)</a:t>
            </a:r>
          </a:p>
          <a:p>
            <a:pPr lvl="2">
              <a:lnSpc>
                <a:spcPct val="11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WoW Growth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1395%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(driven by sharp weekly uptick in demand/revenue realization)</a:t>
            </a:r>
            <a:endParaRPr lang="en-US" sz="2500" dirty="0"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Revenue Breakdown &amp; Trends:</a:t>
            </a:r>
          </a:p>
          <a:p>
            <a:pPr lvl="1">
              <a:lnSpc>
                <a:spcPct val="11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Property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lnSpc>
                <a:spcPct val="11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Palace</a:t>
            </a:r>
          </a:p>
          <a:p>
            <a:pPr lvl="2">
              <a:lnSpc>
                <a:spcPct val="11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contribution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Seasons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signaling underperformance and requiring focused revenue strategy.</a:t>
            </a:r>
          </a:p>
          <a:p>
            <a:pPr marL="914400" lvl="2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434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3D2C5-D1C7-8400-981C-EE61AAC87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1CD16D3-8FE3-2CBA-9CD1-0B1635219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EEE543-9CB3-DE46-A309-714FB5FBC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32D150-B550-B516-608B-741260583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6BB8F3-B00F-4676-F862-66C196272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9AD0C2-8CAD-879F-62E8-7FE13DF6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91AC0-534A-788C-6047-B4587238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1. Financial Overview &amp; Revenue Performance(Contd.)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0F3E0-741B-7009-C76E-B3D89B78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By Room Class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Elite rooms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dominate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32.82% of revenue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(27.08%)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(21.99%)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Presidential rooms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least (18.11%)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provide high-margin opportunities despite lower volume.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3. By Month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peaked in May (~₹680M)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declined sharply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June (~₹650M)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rebounded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July (~₹670M)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dip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June, followed by recovery — potential link to demand cycles, events, or pricing shifts.</a:t>
            </a: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Growth Over Time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volatile but upward trending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demand opportunities but requiring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stabilization strategies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maintain momentum.</a:t>
            </a: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12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91324-5830-4D28-1C8B-BA202CA8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076D6F3-6C56-6266-0F95-9C0E861F7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A8295-60F3-7199-F8EB-0040E236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E13896-58CA-CA1A-C7EB-8082530A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6A872-6664-5728-04F6-2D47DF51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EB5264-2EB7-186E-A98F-C3BEE2B80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29B88-594F-40FF-9D6A-597324BA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1. Financial Overview &amp; Revenue Performance(Contd.)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49A6C-DFC2-2EA2-2B71-DF7D6BA0A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7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📈 Actionable Opportunities: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Property-Level Optimization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marketing and promotions for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Seasons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uplift its performance.</a:t>
            </a:r>
          </a:p>
          <a:p>
            <a:pPr lvl="1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Replicate successful revenue strategies from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Exotica &amp; Palace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weaker properties</a:t>
            </a:r>
          </a:p>
          <a:p>
            <a:pPr marL="0" indent="0">
              <a:buNone/>
            </a:pPr>
            <a:r>
              <a:rPr lang="en-US" sz="2100" b="1" dirty="0"/>
              <a:t>  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Room Class Strategy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Elite &amp; Standard rooms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steady revenue drivers — maintain competitive pricing and loyalty incentives here.</a:t>
            </a:r>
          </a:p>
          <a:p>
            <a:pPr lvl="1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Presidential rooms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Explore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bundled luxury experiences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(chauffeur, curated dining) to increase utilization without price dilution.</a:t>
            </a:r>
          </a:p>
          <a:p>
            <a:pPr marL="0" indent="0">
              <a:buNone/>
            </a:pPr>
            <a:r>
              <a:rPr lang="en-US" sz="2100" b="1" dirty="0"/>
              <a:t>  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Revenue Growth Management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pricing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event-linked packages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stabilize month-over-month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518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FD9FCD-7193-76F7-24EA-C430250FC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713985"/>
            <a:ext cx="11498892" cy="614401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AC39FF-4FC9-632F-74A1-C1ECBAFB89AF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Occupancy &amp; Capacity Analysis</a:t>
            </a:r>
          </a:p>
        </p:txBody>
      </p:sp>
    </p:spTree>
    <p:extLst>
      <p:ext uri="{BB962C8B-B14F-4D97-AF65-F5344CB8AC3E}">
        <p14:creationId xmlns:p14="http://schemas.microsoft.com/office/powerpoint/2010/main" val="1637837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E0D15-F36C-C7C9-13B4-144D1074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FF2C92-3A9E-F802-AEC6-937AEF9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B71D69-3787-CEBF-5F1E-CCC869B18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4F2092-D79A-ACFB-7DFF-5E50E131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62B15-853A-9F41-C70F-71C50912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A38693-EF81-230A-F6A2-81289AC1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19E40-EEEF-4D67-3D50-276D92E0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 2: Occupancy &amp; Capacity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6C2E96-0DA0-B24F-FFA5-14F7F6842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746"/>
            <a:ext cx="10515600" cy="52352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</a:p>
          <a:p>
            <a:pPr marL="0" indent="0">
              <a:buNone/>
            </a:pP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Hotel &amp; Room Class Occupancy Performance:</a:t>
            </a:r>
          </a:p>
          <a:p>
            <a:pPr lvl="1"/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Overall Bookings &amp; Occupancy: </a:t>
            </a:r>
          </a:p>
          <a:p>
            <a:pPr lvl="2"/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Hotels recorded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135K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bookings with an average occupancy rate of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43.5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%.</a:t>
            </a:r>
          </a:p>
          <a:p>
            <a:pPr lvl="1"/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Performers:</a:t>
            </a:r>
          </a:p>
          <a:p>
            <a:pPr lvl="2"/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ITC Blu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leads with the highest occupancy (46.73%), followed by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Palace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(44.89%).</a:t>
            </a:r>
          </a:p>
          <a:p>
            <a:pPr lvl="1"/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Performer:</a:t>
            </a:r>
          </a:p>
          <a:p>
            <a:pPr lvl="2"/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ITC Seasons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reports the lowest occupancy (33.56%), indicating potential issues in market fit or pricing.</a:t>
            </a:r>
          </a:p>
          <a:p>
            <a:pPr lvl="1"/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Room Class:</a:t>
            </a:r>
          </a:p>
          <a:p>
            <a:pPr lvl="2"/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Presidential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 exhibits the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occupancy (44.75%), while the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Elite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trails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43.23%.</a:t>
            </a:r>
          </a:p>
          <a:p>
            <a:pPr marL="0" indent="0">
              <a:buNone/>
            </a:pP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Occupancy vs. Revenue Correlation:</a:t>
            </a:r>
          </a:p>
          <a:p>
            <a:pPr lvl="1"/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strong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correlation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exists between Occupancy and RevPAR.</a:t>
            </a:r>
          </a:p>
          <a:p>
            <a:pPr lvl="1"/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Hotels segment into </a:t>
            </a:r>
            <a:r>
              <a:rPr lang="en-US" sz="1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performance clusters</a:t>
            </a:r>
            <a:r>
              <a:rPr lang="en-US" sz="1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variations in demand, market  positioning, and strategic effectiveness.</a:t>
            </a:r>
            <a:endParaRPr lang="en-IN" sz="1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7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CC432-0600-0D88-87D7-1E750A42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87FA55C-2686-BBAE-A617-C4384589B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26F45-3EBD-57F2-9A60-528F9892C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87125-D695-8BB8-D7A5-8306BF11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59D7A-6B70-8295-9FC7-B1AACA9A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E9C9F8-A062-A2C5-3A9F-2ECA1A27A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55685-2CA1-DE5B-4517-099D1283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2: Occupancy &amp; Capacity Analysis (Cntd.)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A9C7EE-FF12-2854-0A10-B5304287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Revenue Per Available Room (RevPAR) Highlights:</a:t>
            </a:r>
          </a:p>
          <a:p>
            <a:pPr lvl="1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RevPAR generally aligns with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 occupancy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reinforcing the positive relationship.</a:t>
            </a:r>
          </a:p>
          <a:p>
            <a:pPr lvl="1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RevPAR Performers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₹9.2K</a:t>
            </a:r>
          </a:p>
          <a:p>
            <a:pPr lvl="2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Palace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₹9.1K</a:t>
            </a:r>
          </a:p>
          <a:p>
            <a:pPr lvl="1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Tier Properties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Exotica, Blu, Palace, and City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 on both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RevPAR and occupancy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high operational and pricing efficiency.</a:t>
            </a:r>
          </a:p>
          <a:p>
            <a:pPr lvl="1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Underperformer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/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Seasons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maintains a reasonable RevPAR but suffers from low occupancy,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limiting revenue scalability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40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F379D-CA3E-BCF9-747F-5AFB7BB7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DD0D07-5DDD-7889-1FC6-AB06EEC8A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EF291F-D241-93F2-8F61-84761568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E0CAA1-11BD-6004-6CC3-DD2C9F6F4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B1DCB0-CC15-B3EA-3DE3-F5B5BEEB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C15555-336B-8D51-FDB0-8DD3B311D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0CE42-762F-B2CC-EFA9-74AB9C59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75" y="294538"/>
            <a:ext cx="10653775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2: Occupancy &amp; Capacity Analysis (Cntd.)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E3D20-775B-AB4D-380C-6D04725F2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745"/>
            <a:ext cx="10515600" cy="523525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Business Insights: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 Revenue &amp; Operational Leadership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 &amp; ITC Palace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demonstrate superior revenue generation per room.</a:t>
            </a:r>
          </a:p>
          <a:p>
            <a:pPr lvl="1">
              <a:lnSpc>
                <a:spcPct val="110000"/>
              </a:lnSpc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Blu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achieves the best balance of occupancy and revenue—indicative of high efficiency.</a:t>
            </a:r>
          </a:p>
          <a:p>
            <a:pPr marL="514350" indent="-514350">
              <a:lnSpc>
                <a:spcPct val="110000"/>
              </a:lnSpc>
              <a:buAutoNum type="arabicPeriod" startAt="2"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Mid-Tier Properties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City, ITC Bay &amp; ITC Grands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mid-tier performers with growth potential.</a:t>
            </a:r>
          </a:p>
          <a:p>
            <a:pPr lvl="1">
              <a:lnSpc>
                <a:spcPct val="110000"/>
              </a:lnSpc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Seasons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weakest link, underperforming across both key metrics.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Actionable Opportunities: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Top Performers (Blu, Palace, City)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pricing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invest in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yield management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upselling strategies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maximize profit per guest.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Mid-Tier Properties (Bay, Grands)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repositioning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promotional campaigns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during low-demand periods, leveraging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loyalty programs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10000"/>
              </a:lnSpc>
              <a:buAutoNum type="arabicPeriod" startAt="3"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Underperforming Asset (Seasons)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urgent strategic review. 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pricing models.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169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62D4D-4622-E673-14A8-03F0D63A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E0BDA5-2C58-4C93-DBB3-E9F1BF1A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338204" y="825487"/>
            <a:ext cx="11498892" cy="603251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0A6691-1AF1-428F-A054-B96700F06C62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Room Category Performance &amp; Booking Analysis</a:t>
            </a:r>
          </a:p>
        </p:txBody>
      </p:sp>
    </p:spTree>
    <p:extLst>
      <p:ext uri="{BB962C8B-B14F-4D97-AF65-F5344CB8AC3E}">
        <p14:creationId xmlns:p14="http://schemas.microsoft.com/office/powerpoint/2010/main" val="200645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31601-5505-F5CE-3B7C-0A71E0EA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0F5670-199A-16A8-9796-04B6E761C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D01258-5AD4-50B6-233E-A0F5D65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F098C7-7F93-67EF-FE1E-448336C03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185FA0-4F29-824B-4B65-22E6F8423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126F0C-DFEF-54D2-2717-62B2C153C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DCFE8-4AF9-359B-F96A-84B541E4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1" y="294538"/>
            <a:ext cx="1054104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3. Room Category Performance &amp; Booking Insights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FD6FA-415A-86BE-C7BA-8ADF3B9C8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7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Occupancy &amp; Stay Duration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occupancy rate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43.5%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an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Length of Stay (ALOS) of 2.37 nights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 such 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Blu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 the longest stays, while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Palace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City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shorter stays.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Revenue Contribution by Room Category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Elite rooms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the highest share of revenue (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32.82%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followed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(27.08%)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Presidential (21.99%)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(18.11%)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categories (Elite, Premium, Presidential) collectively contribute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80% of revenue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Stay Duration by Room Class: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ALOS patterns are highly consistent across all room classes, suggesting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 type has minimal influence on length of stay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01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CF507-0B02-FA1F-64CF-D92CD6E6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74B036-8090-208B-35DC-08A292BF2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3A0363-C2B7-4C91-6ECB-0668667EC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04F2CF-7BDE-430C-6B8D-4A9B3745D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FCE0E1-40BF-A5BB-24FE-AD8719A2B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9CB45-848E-3B45-0A3E-BDD1AA83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768E7-99DE-AAB2-7FC7-0C2A2170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94538"/>
            <a:ext cx="1042935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3. Room Category Performance &amp; Booking Insights(Contd.)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B4CB4-EEB0-63D2-0C4B-66D0C69DB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7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Booking Lead-Time Insights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 lead-time bookings (0–3 days)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 most of both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and ADR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 bookings (15–30 days)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 very little, highlighting a dependency on last-minute demand.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Revenue vs. ADR Relationship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strong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correlation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exists between ADR and realized revenue.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validates ITC’s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pricing strategy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 higher ADR does not significantly reduce demand.</a:t>
            </a:r>
            <a:endParaRPr lang="en-US" sz="2000" b="1" dirty="0"/>
          </a:p>
          <a:p>
            <a:pPr marL="0" indent="0">
              <a:buNone/>
            </a:pP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Insights: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Revenue Dependence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Hotels are heavily reliant on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last-minute bookings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exposing them to demand volatility.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Pricing Confidence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Dynamic pricing strategies (higher ADR during peak periods) are working effectively, driving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1309915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A49DA-6B07-ECE6-C0A2-50179B50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EF8A952-10DC-A327-71EA-EE494F38C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E614BC-8C5B-29F0-69D8-21DE6B79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22E738-4624-20B8-9904-C738BB4BB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3C7ED3-8EC7-8141-D612-FC3D5F036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F4CED2-678F-CC92-C8BF-691F9B56B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D6954-14CD-3207-AA00-51ACB894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3. Room Category Performance &amp; Booking Insights(Contd.)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CA1C5-FF98-E6BC-0705-32AEA6016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📈</a:t>
            </a:r>
            <a:r>
              <a:rPr lang="en-US" b="1" dirty="0"/>
              <a:t> </a:t>
            </a: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Opportunities:</a:t>
            </a:r>
          </a:p>
          <a:p>
            <a:pPr marL="0" indent="0">
              <a:buNone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Early-Booking Incentives:</a:t>
            </a:r>
          </a:p>
          <a:p>
            <a:pPr lvl="1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targeted promotions for 15–30-day advance bookings to smoothen occupancy and reduce reliance on last-minute demand.</a:t>
            </a:r>
          </a:p>
          <a:p>
            <a:pPr marL="0" indent="0">
              <a:buNone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Segmented Pricing Strategy:</a:t>
            </a:r>
          </a:p>
          <a:p>
            <a:pPr lvl="1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Refine ADR strategies across different customer segments (business vs. leisure) and time periods (weekday vs. weekend) to capture untapped revenue potential.</a:t>
            </a:r>
          </a:p>
        </p:txBody>
      </p:sp>
    </p:spTree>
    <p:extLst>
      <p:ext uri="{BB962C8B-B14F-4D97-AF65-F5344CB8AC3E}">
        <p14:creationId xmlns:p14="http://schemas.microsoft.com/office/powerpoint/2010/main" val="706399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D041A-97BF-C178-0B03-F0942F2C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93E040-538A-BE55-84AC-E329325101BC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Cancellations &amp; Lost Revenue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95269-8309-DC90-A459-B0D9D8648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597074"/>
            <a:ext cx="11498892" cy="62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3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46ED9-5E53-7A98-3907-11B27317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996B6C-10BB-A750-DEEC-84A1CDD04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48F06A-33B6-E3C2-9A12-BA5B13AFC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87E6A3-A32B-D379-DFC4-CCD55AE89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81842-C88D-9CD2-25E1-8B84BE256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8432C0-FE64-162F-E400-7106860A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15FBD-9C65-B1AD-FAF9-76707AF8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</a:t>
            </a:r>
            <a:r>
              <a:rPr lang="en-US" sz="3200" dirty="0">
                <a:solidFill>
                  <a:srgbClr val="FFFFFF"/>
                </a:solidFill>
              </a:rPr>
              <a:t>Cancellations &amp; Lost Revenue Analysis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4C7AD-D894-3871-662C-93906F534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745"/>
            <a:ext cx="10515600" cy="514131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</a:t>
            </a:r>
            <a:r>
              <a:rPr lang="en-US" sz="25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</a:p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Overall Impact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Hotels faces a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 of 24.83%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categories.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translates to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33K cancelled bookings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an estimated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₹299M revenue loss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Cancellation Trends (by Date &amp; Month)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rates fluctuate between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22%–28%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persistent issue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rather than isolated spikes.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analysis confirms that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cancellation pressure remains steady across periods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systemic rather than seasonal behavior.</a:t>
            </a:r>
          </a:p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Property &amp; Room Class Analysis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Property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Palace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25.18%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24.37%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Room Class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Presidential rooms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the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cancellations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Elite &amp; Premium categories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experience slightly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higher-than-average cancellations (~25%)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sensitivity in mid-luxury segments.</a:t>
            </a:r>
          </a:p>
          <a:p>
            <a:pPr marL="0" indent="0">
              <a:buNone/>
            </a:pPr>
            <a:endParaRPr lang="en-IN"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726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1F065-6B5A-40E8-AC5D-B3485874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5D0AE83-3FB5-6DD0-5265-62200C746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AD0A34-FF7F-838A-B53C-8C3658B1E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39B6CD-30A5-AB32-3E1C-0C3C8A146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05706D-1031-5F52-C439-AB38E0048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1D6CC8-C805-8C7B-B85A-C577E00A2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CC3CC-6385-C113-7C1C-50137F12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1" y="294538"/>
            <a:ext cx="1054104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4. Cancellations &amp; Lost Revenue Analysis(Contd.)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9E19C-917F-CB55-C8A2-FFA799D6E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Lead-Time Behavior: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Highest risk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Bookings made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15–30 days in advance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particularly at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Palace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Grands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stable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ITC Exotica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consistent booking retention across lead times.</a:t>
            </a:r>
          </a:p>
          <a:p>
            <a:pPr lvl="1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cancellations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0–7-day bookings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last-minute stays are more reliable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📈</a:t>
            </a:r>
            <a:r>
              <a:rPr lang="en-US" b="1" dirty="0"/>
              <a:t> </a:t>
            </a:r>
            <a:r>
              <a:rPr lang="en-US" sz="27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Opportunities: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Tailored Policies: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Hotel managers should segment cancellation policies by lead time.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Revenue Protection Measures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non-refundable / partially refundable early bird offers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risk of advance cancellations.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256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CC643-913B-BE1D-81AA-48A0D8EB5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85" y="813973"/>
            <a:ext cx="11035429" cy="577523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4478F5-6043-A63C-2BA2-C0390E422410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Page Navigation From Home Page</a:t>
            </a:r>
          </a:p>
        </p:txBody>
      </p:sp>
    </p:spTree>
    <p:extLst>
      <p:ext uri="{BB962C8B-B14F-4D97-AF65-F5344CB8AC3E}">
        <p14:creationId xmlns:p14="http://schemas.microsoft.com/office/powerpoint/2010/main" val="40294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0F3B-05DA-E9AC-AAA2-9B22CFC9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66CC2-7625-5997-194E-3741D9CB2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1004054"/>
            <a:ext cx="11498892" cy="585394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A1EDD1-7D60-D94E-C87E-04C518ED28BD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Dynamic filters</a:t>
            </a:r>
          </a:p>
        </p:txBody>
      </p:sp>
    </p:spTree>
    <p:extLst>
      <p:ext uri="{BB962C8B-B14F-4D97-AF65-F5344CB8AC3E}">
        <p14:creationId xmlns:p14="http://schemas.microsoft.com/office/powerpoint/2010/main" val="1194897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561EE-0ED0-B1D3-D260-600ABB4CE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839244"/>
            <a:ext cx="11515592" cy="601875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8104FD-1831-C208-6F13-9B980398FEBA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Tool Tip (Finance Page)</a:t>
            </a:r>
          </a:p>
        </p:txBody>
      </p:sp>
    </p:spTree>
    <p:extLst>
      <p:ext uri="{BB962C8B-B14F-4D97-AF65-F5344CB8AC3E}">
        <p14:creationId xmlns:p14="http://schemas.microsoft.com/office/powerpoint/2010/main" val="3754969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5284-861E-2411-5817-342432FBC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B0D12D-2825-683E-98BC-ED4EA06B58E3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Tool Tip 2 (Finance Page)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6CD06-A88A-A45C-CBFD-B3B3640D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597074"/>
            <a:ext cx="11515592" cy="62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85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A9E5-585A-29BC-DF1F-CA5F4D9D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3D5E0D-DAF1-2F0A-A0A8-35F267109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906561"/>
            <a:ext cx="11501139" cy="595143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27FA95-C295-115B-0E7E-D25C26583E75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</a:t>
            </a:r>
            <a:r>
              <a:rPr lang="en-IN" sz="3500" b="1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Tool Tip (</a:t>
            </a:r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Cancellations Page)</a:t>
            </a:r>
          </a:p>
        </p:txBody>
      </p:sp>
    </p:spTree>
    <p:extLst>
      <p:ext uri="{BB962C8B-B14F-4D97-AF65-F5344CB8AC3E}">
        <p14:creationId xmlns:p14="http://schemas.microsoft.com/office/powerpoint/2010/main" val="4211987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02F8-6543-AA9A-4658-9EE7EA87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00C4DF-696D-019F-B411-68974FE179E9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AI Chart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BD9B1F-B281-8FC6-18DF-B2E719139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4" y="597073"/>
            <a:ext cx="11498892" cy="62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86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91740-C678-E8A8-CC73-C3C7D0A4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4CA6F1-D061-BAA4-FE0F-1B00C1BF2984}"/>
              </a:ext>
            </a:extLst>
          </p:cNvPr>
          <p:cNvSpPr/>
          <p:nvPr/>
        </p:nvSpPr>
        <p:spPr>
          <a:xfrm>
            <a:off x="338204" y="0"/>
            <a:ext cx="11498892" cy="59707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</a:rPr>
              <a:t>Dashboard Feature : AI Chart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5C2E0-9FE4-3FCA-6F3E-9C394B54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4" y="597074"/>
            <a:ext cx="11498892" cy="62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70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346F2-2452-7DA1-523D-A2561AB8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D8FE9C-7E3D-1F6A-6E9F-070D75DCD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6623CF-BD48-4CDA-8317-B79530F6D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364239-AF33-0BC2-EC72-FC1D0A84F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35B4A-77B1-F893-755B-58496A99C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0FC1D-DFBB-B256-A2D6-2E47CDA9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78EAC-9896-6EEB-2CD6-0E906301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close-up of hands shaking&#10;&#10;AI-generated content may be incorrect.">
            <a:extLst>
              <a:ext uri="{FF2B5EF4-FFF2-40B4-BE49-F238E27FC236}">
                <a16:creationId xmlns:a16="http://schemas.microsoft.com/office/drawing/2014/main" id="{F28DFB73-C969-8106-1C1C-AABA1AF0D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" y="-2"/>
            <a:ext cx="12191999" cy="6858002"/>
          </a:xfrm>
        </p:spPr>
      </p:pic>
    </p:spTree>
    <p:extLst>
      <p:ext uri="{BB962C8B-B14F-4D97-AF65-F5344CB8AC3E}">
        <p14:creationId xmlns:p14="http://schemas.microsoft.com/office/powerpoint/2010/main" val="165000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6216</TotalTime>
  <Words>1547</Words>
  <Application>Microsoft Office PowerPoint</Application>
  <PresentationFormat>Widescreen</PresentationFormat>
  <Paragraphs>152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Arial Black</vt:lpstr>
      <vt:lpstr>Calibri</vt:lpstr>
      <vt:lpstr>Calibri Light</vt:lpstr>
      <vt:lpstr>Office Theme</vt:lpstr>
      <vt:lpstr>Project: ITC Hotels</vt:lpstr>
      <vt:lpstr> Introduction </vt:lpstr>
      <vt:lpstr> Business Challenge </vt:lpstr>
      <vt:lpstr>PowerPoint Presentation</vt:lpstr>
      <vt:lpstr>PowerPoint Presentation</vt:lpstr>
      <vt:lpstr>1. Financial Overview &amp; Revenue Performance</vt:lpstr>
      <vt:lpstr>1. Financial Overview &amp; Revenue Performance(Contd.)</vt:lpstr>
      <vt:lpstr>1. Financial Overview &amp; Revenue Performance(Contd.)</vt:lpstr>
      <vt:lpstr>PowerPoint Presentation</vt:lpstr>
      <vt:lpstr> 2: Occupancy &amp; Capacity Analysis</vt:lpstr>
      <vt:lpstr>2: Occupancy &amp; Capacity Analysis (Cntd.)</vt:lpstr>
      <vt:lpstr>2: Occupancy &amp; Capacity Analysis (Cntd.)</vt:lpstr>
      <vt:lpstr>PowerPoint Presentation</vt:lpstr>
      <vt:lpstr>3. Room Category Performance &amp; Booking Insights</vt:lpstr>
      <vt:lpstr>3. Room Category Performance &amp; Booking Insights(Contd.)</vt:lpstr>
      <vt:lpstr>3. Room Category Performance &amp; Booking Insights(Contd.)</vt:lpstr>
      <vt:lpstr>PowerPoint Presentation</vt:lpstr>
      <vt:lpstr>4. Cancellations &amp; Lost Revenue Analysis</vt:lpstr>
      <vt:lpstr>4. Cancellations &amp; Lost Revenue Analysis(Contd.)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Kapse</dc:creator>
  <cp:lastModifiedBy>Abhishek Kapse</cp:lastModifiedBy>
  <cp:revision>88</cp:revision>
  <dcterms:created xsi:type="dcterms:W3CDTF">2025-07-08T03:25:03Z</dcterms:created>
  <dcterms:modified xsi:type="dcterms:W3CDTF">2025-08-31T06:10:30Z</dcterms:modified>
</cp:coreProperties>
</file>